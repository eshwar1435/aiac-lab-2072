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aser Arabic" charset="1" panose="00000500000000000000"/>
      <p:regular r:id="rId19"/>
    </p:embeddedFon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Canva Sans" charset="1" panose="020B0503030501040103"/>
      <p:regular r:id="rId22"/>
    </p:embeddedFont>
    <p:embeddedFont>
      <p:font typeface="Montaser Arabic Bold" charset="1" panose="00000800000000000000"/>
      <p:regular r:id="rId23"/>
    </p:embeddedFont>
    <p:embeddedFont>
      <p:font typeface="Bricolage Grotesque" charset="1" panose="020B0605040402000204"/>
      <p:regular r:id="rId24"/>
    </p:embeddedFont>
    <p:embeddedFont>
      <p:font typeface="Bricolage Grotesque Bold" charset="1" panose="020B060504040200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194434" y="2235472"/>
            <a:ext cx="13899131" cy="158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300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 INTELLIGENT ST</a:t>
            </a:r>
            <a:r>
              <a:rPr lang="en-US" sz="300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ROKE RISK PREDICTION AND LESION SEGMENTATION SYSTEM USING TRANSFORMER-RESNET FUSION OPTIMIZED BY AN IMPROVED SLIME MOULD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1177" y="5772199"/>
            <a:ext cx="12459511" cy="37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4650"/>
              </a:lnSpc>
            </a:pPr>
            <a:r>
              <a:rPr lang="en-US" sz="33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Naresh Kumar Sripada – Assistant Professor</a:t>
            </a:r>
          </a:p>
          <a:p>
            <a:pPr algn="ctr">
              <a:lnSpc>
                <a:spcPts val="3810"/>
              </a:lnSpc>
            </a:pPr>
            <a:r>
              <a:rPr lang="en-US" sz="27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Eshwar Nomula</a:t>
            </a:r>
          </a:p>
          <a:p>
            <a:pPr algn="ctr">
              <a:lnSpc>
                <a:spcPts val="3810"/>
              </a:lnSpc>
            </a:pPr>
            <a:r>
              <a:rPr lang="en-US" sz="27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Anjani Enumula </a:t>
            </a:r>
          </a:p>
          <a:p>
            <a:pPr algn="ctr">
              <a:lnSpc>
                <a:spcPts val="3810"/>
              </a:lnSpc>
            </a:pPr>
            <a:r>
              <a:rPr lang="en-US" sz="27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Hansika Vangari </a:t>
            </a:r>
          </a:p>
          <a:p>
            <a:pPr algn="ctr">
              <a:lnSpc>
                <a:spcPts val="3810"/>
              </a:lnSpc>
            </a:pPr>
            <a:r>
              <a:rPr lang="en-US" sz="27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Nagasri Pingili</a:t>
            </a:r>
          </a:p>
          <a:p>
            <a:pPr algn="ctr">
              <a:lnSpc>
                <a:spcPts val="52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1608" y="3480323"/>
            <a:ext cx="12184783" cy="56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672" indent="-312836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Stroke is one of the leading causes of death and disability worldwide.</a:t>
            </a:r>
          </a:p>
          <a:p>
            <a:pPr algn="l" marL="625672" indent="-312836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Early detection can save lives and reduce long-term complications.</a:t>
            </a:r>
          </a:p>
          <a:p>
            <a:pPr algn="l" marL="625672" indent="-312836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systems use only clinical data or imaging data, reducing accuracy.</a:t>
            </a:r>
          </a:p>
          <a:p>
            <a:pPr algn="l" marL="625672" indent="-312836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invention combines both clinical data + medical images for better prediction.</a:t>
            </a:r>
          </a:p>
          <a:p>
            <a:pPr algn="l" marL="625672" indent="-312836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Uses Transformer + ResNet + Improved Slime Mould Algorithm for intelligent diagnosis.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32167" y="866775"/>
            <a:ext cx="10911538" cy="1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</a:t>
            </a: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RODUCTION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55" y="921067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0519" y="1425257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</a:t>
            </a: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JECTIVES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42687" y="4482245"/>
            <a:ext cx="11453456" cy="34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 stroke risk at an early stage.</a:t>
            </a:r>
          </a:p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Segment lesion areas accurately from medical images.</a:t>
            </a:r>
          </a:p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multi-modal data for improved performance.</a:t>
            </a:r>
          </a:p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 model parameters automatically.</a:t>
            </a:r>
          </a:p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hospitals and doctors in decision-making.</a:t>
            </a:r>
          </a:p>
          <a:p>
            <a:pPr algn="l" marL="698604" indent="-349302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 diagnosis time and increase accuracy.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4030" y="1425257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STAKEHOL</a:t>
            </a: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85758" y="3896931"/>
            <a:ext cx="3932515" cy="60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b="true" sz="3623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PRIMARY USERS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0491" y="4738758"/>
            <a:ext cx="6205657" cy="29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675" indent="-364338" lvl="1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HOSPITALS</a:t>
            </a:r>
          </a:p>
          <a:p>
            <a:pPr algn="l" marL="728675" indent="-364338" lvl="1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DIAGNOSTIC CENTERS</a:t>
            </a:r>
          </a:p>
          <a:p>
            <a:pPr algn="l" marL="728675" indent="-364338" lvl="1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NEUROLOGISTS</a:t>
            </a:r>
          </a:p>
          <a:p>
            <a:pPr algn="l" marL="728675" indent="-364338" lvl="1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RADIOLOGISTS</a:t>
            </a:r>
          </a:p>
          <a:p>
            <a:pPr algn="l" marL="728675" indent="-364338" lvl="1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TELEMEDICINE PLATFORMS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7834" y="3887406"/>
            <a:ext cx="3397330" cy="58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b="true" sz="3375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BENEFICIARIES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05354" y="5206898"/>
            <a:ext cx="5568422" cy="205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828" indent="-314414" lvl="1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STROKE PATIENTS</a:t>
            </a:r>
          </a:p>
          <a:p>
            <a:pPr algn="l" marL="628828" indent="-314414" lvl="1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ELDERLY PEOPLE</a:t>
            </a:r>
          </a:p>
          <a:p>
            <a:pPr algn="l" marL="628828" indent="-314414" lvl="1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HIGH-RISK INDIVIDUALS</a:t>
            </a:r>
          </a:p>
          <a:p>
            <a:pPr algn="l" marL="628828" indent="-314414" lvl="1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HEALTHCARE RESEARCHERS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8880" y="1266516"/>
            <a:ext cx="11564498" cy="165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  <a:spcBef>
                <a:spcPct val="0"/>
              </a:spcBef>
            </a:pPr>
            <a:r>
              <a:rPr lang="en-US" sz="47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PROGRAMMING LANGUAGES, TOOLS &amp; SOFTWARE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2971" y="3497965"/>
            <a:ext cx="6002060" cy="58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b="true" sz="33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PROGRAMMING LANGUAGES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6660" y="4122848"/>
            <a:ext cx="5251014" cy="102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144" indent="-317572" lvl="1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</a:t>
            </a:r>
          </a:p>
          <a:p>
            <a:pPr algn="l" marL="635144" indent="-317572" lvl="1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SQL (FOR DATA HANDLING)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0121" y="5724525"/>
            <a:ext cx="5597486" cy="58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b="true" sz="33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LIBRARIES / FRAMEWORKS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121" y="6572248"/>
            <a:ext cx="2995851" cy="302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TENSORFLOW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PYTORCH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OPENCV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NUMPY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PANDAS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MATPLOTLIB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0464" y="3590040"/>
            <a:ext cx="3335298" cy="5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b="true" sz="29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SOFTWARE 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5595" y="4292600"/>
            <a:ext cx="4105037" cy="201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JUPYTER NOTEBOOK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COLAB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VS CODE</a:t>
            </a:r>
          </a:p>
          <a:p>
            <a:pPr algn="l" marL="620728" indent="-310364" lvl="1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POWERPOINT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0464" y="6572248"/>
            <a:ext cx="3366730" cy="49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  <a:spcBef>
                <a:spcPct val="0"/>
              </a:spcBef>
            </a:pPr>
            <a:r>
              <a:rPr lang="en-US" b="true" sz="28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 SOURCES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5595" y="7591423"/>
            <a:ext cx="6419658" cy="9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8162" indent="-289081" lvl="1">
              <a:lnSpc>
                <a:spcPts val="3749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PUBLIC MEDICAL DATASETS</a:t>
            </a:r>
          </a:p>
          <a:p>
            <a:pPr algn="l" marL="578162" indent="-289081" lvl="1">
              <a:lnSpc>
                <a:spcPts val="3749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ECHOCARDIOGRAM &amp; CLINICAL 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80766" y="1510982"/>
            <a:ext cx="11564498" cy="167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2"/>
              </a:lnSpc>
              <a:spcBef>
                <a:spcPct val="0"/>
              </a:spcBef>
            </a:pPr>
            <a:r>
              <a:rPr lang="en-US" sz="48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PROMPT</a:t>
            </a:r>
            <a:r>
              <a:rPr lang="en-US" sz="48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 USED TO GENERATE CODES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62818"/>
            <a:ext cx="15868965" cy="108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CONSIDER ECHONETLVH DATASET GENERATE CODE FOR THE PATENT “AN INTELLIGENT STROKE RISK PREDICTION</a:t>
            </a:r>
          </a:p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AND LESION SEGMENTATION SYSTEM USING TRANSFORMER-RESNET FUSION OPTIMIZED BY AN IMPROVED </a:t>
            </a:r>
          </a:p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SLIME MOULD ALGORITHM” ALSO GENERATE SIMULATED RESULTS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7477" y="923925"/>
            <a:ext cx="11564498" cy="92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2"/>
              </a:lnSpc>
              <a:spcBef>
                <a:spcPct val="0"/>
              </a:spcBef>
            </a:pPr>
            <a:r>
              <a:rPr lang="en-US" b="true" sz="5423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FLOWCHART OF WORKFLOW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45995" y="2737445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026338" y="1965021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72215" y="22307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2445324"/>
            <a:ext cx="11301259" cy="5374323"/>
          </a:xfrm>
          <a:custGeom>
            <a:avLst/>
            <a:gdLst/>
            <a:ahLst/>
            <a:cxnLst/>
            <a:rect r="r" b="b" t="t" l="l"/>
            <a:pathLst>
              <a:path h="5374323" w="11301259">
                <a:moveTo>
                  <a:pt x="0" y="0"/>
                </a:moveTo>
                <a:lnTo>
                  <a:pt x="11301258" y="0"/>
                </a:lnTo>
                <a:lnTo>
                  <a:pt x="11301258" y="5374323"/>
                </a:lnTo>
                <a:lnTo>
                  <a:pt x="0" y="5374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0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77879" y="572951"/>
            <a:ext cx="10298668" cy="5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b="true" sz="321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FRONT-END VIEW OF WEB/MOBILE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0627" y="775071"/>
            <a:ext cx="11564498" cy="149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2"/>
              </a:lnSpc>
              <a:spcBef>
                <a:spcPct val="0"/>
              </a:spcBef>
            </a:pPr>
            <a:r>
              <a:rPr lang="en-US" sz="4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</a:t>
            </a:r>
            <a:r>
              <a:rPr lang="en-US" sz="4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ROOF OF PROMPTS GENERATING CODES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232167"/>
            <a:ext cx="6849349" cy="2554791"/>
          </a:xfrm>
          <a:custGeom>
            <a:avLst/>
            <a:gdLst/>
            <a:ahLst/>
            <a:cxnLst/>
            <a:rect r="r" b="b" t="t" l="l"/>
            <a:pathLst>
              <a:path h="2554791" w="6849349">
                <a:moveTo>
                  <a:pt x="0" y="0"/>
                </a:moveTo>
                <a:lnTo>
                  <a:pt x="6849349" y="0"/>
                </a:lnTo>
                <a:lnTo>
                  <a:pt x="6849349" y="2554791"/>
                </a:lnTo>
                <a:lnTo>
                  <a:pt x="0" y="2554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266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20879" y="3232167"/>
            <a:ext cx="6393705" cy="2554791"/>
          </a:xfrm>
          <a:custGeom>
            <a:avLst/>
            <a:gdLst/>
            <a:ahLst/>
            <a:cxnLst/>
            <a:rect r="r" b="b" t="t" l="l"/>
            <a:pathLst>
              <a:path h="2554791" w="6393705">
                <a:moveTo>
                  <a:pt x="0" y="0"/>
                </a:moveTo>
                <a:lnTo>
                  <a:pt x="6393706" y="0"/>
                </a:lnTo>
                <a:lnTo>
                  <a:pt x="6393706" y="2554791"/>
                </a:lnTo>
                <a:lnTo>
                  <a:pt x="0" y="2554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402" r="-3379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53374" y="6101283"/>
            <a:ext cx="9310097" cy="3744263"/>
          </a:xfrm>
          <a:custGeom>
            <a:avLst/>
            <a:gdLst/>
            <a:ahLst/>
            <a:cxnLst/>
            <a:rect r="r" b="b" t="t" l="l"/>
            <a:pathLst>
              <a:path h="3744263" w="9310097">
                <a:moveTo>
                  <a:pt x="0" y="0"/>
                </a:moveTo>
                <a:lnTo>
                  <a:pt x="9310097" y="0"/>
                </a:lnTo>
                <a:lnTo>
                  <a:pt x="9310097" y="3744263"/>
                </a:lnTo>
                <a:lnTo>
                  <a:pt x="0" y="37442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43" t="-4768" r="-9464" b="-13531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7414" y="1186466"/>
            <a:ext cx="11564498" cy="145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2"/>
              </a:lnSpc>
              <a:spcBef>
                <a:spcPct val="0"/>
              </a:spcBef>
            </a:pP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REFERE</a:t>
            </a: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5" y="9214025"/>
            <a:ext cx="4023291" cy="5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67812" y="3835166"/>
            <a:ext cx="10894100" cy="44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WHO STROKE REPORTS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TENSORFLOW OFFICIAL DOCUMENTATION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PYTORCH DOCUMENTATION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RESEARCH PAPERS ON STROKE PREDICTION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TRANSFORMER NEURAL NETWORKS PAPERS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RESNET RESEARCH PAPER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SLIME MOULD OPTIMIZATION RESEARCH PAPERS</a:t>
            </a:r>
          </a:p>
          <a:p>
            <a:pPr algn="l" marL="693047" indent="-346524" lvl="1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PUBLIC MEDICAL DATASETS (KAGGLE / UCI / NIH)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18267" y="3740566"/>
            <a:ext cx="7166848" cy="155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3"/>
              </a:lnSpc>
              <a:spcBef>
                <a:spcPct val="0"/>
              </a:spcBef>
            </a:pPr>
            <a:r>
              <a:rPr lang="en-US" b="true" sz="9109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DAHHAOIO3EU</dc:identifier>
  <dcterms:modified xsi:type="dcterms:W3CDTF">2011-08-01T06:04:30Z</dcterms:modified>
  <cp:revision>1</cp:revision>
  <dc:title>Grey Clean Minimalist Professional Project Presentation </dc:title>
</cp:coreProperties>
</file>